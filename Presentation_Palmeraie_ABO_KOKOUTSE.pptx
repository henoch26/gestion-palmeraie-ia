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12188952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73152" cy="3017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Système Intelligent de Gestion Automatique
de la Récolte et de la Productivité
du Palmier à Huile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9A825"/>
                </a:solidFill>
              </a:rPr>
              <a:t>Application Web de Gestion de Palmeraie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60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Étudiant  :  ABO KOKOUTSE ADZEYI HENOCH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Université  :  UFHB – Université Félix Houphouët-Boigny · Abidjan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Master 2 – Base de Données et Génie Logiciel (BDGL)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440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3A047"/>
                </a:solidFill>
              </a:rPr>
              <a:t>Année académique 2025 –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365760"/>
            <a:ext cx="1645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9A825"/>
                </a:solidFill>
              </a:rPr>
              <a:t>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0292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807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Contexte &amp; Problématique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75688"/>
            <a:ext cx="50292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7568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II.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305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Objectifs du projet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25496"/>
            <a:ext cx="50292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2549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III.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80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Architecture globale du système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75304"/>
            <a:ext cx="50292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57530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IV.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30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Processus de développement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25112"/>
            <a:ext cx="50292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2511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799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Outils et technologies utilisés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74920"/>
            <a:ext cx="50292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07492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VI.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1297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Modules de l'application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325880"/>
            <a:ext cx="502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32588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VII.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138074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Schéma de la base de données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075688"/>
            <a:ext cx="502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07568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VIII.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1305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Détail des tables (attributs)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825496"/>
            <a:ext cx="502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82549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IX.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8803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Fonctionnalités principales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575304"/>
            <a:ext cx="502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57530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X.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6301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Tableau de bord &amp; Analyses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325112"/>
            <a:ext cx="502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32511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XI.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37997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Pourquoi ce projet 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3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Contexte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09928"/>
            <a:ext cx="11430000" cy="3657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424242"/>
                </a:solidFill>
              </a:rPr>
              <a:t>●  La filière palmier à huile est un secteur économique stratégique en Côte d'Ivoire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24242"/>
                </a:solidFill>
              </a:rPr>
              <a:t>●  Les exploitations produisent des volumes importants de régimes qui nécessitent un suivi rigoureux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24242"/>
                </a:solidFill>
              </a:rPr>
              <a:t>●  La gestion manuelle (papier, tableurs) génère des erreurs, des pertes de données et un manque de visibilité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24242"/>
                </a:solidFill>
              </a:rPr>
              <a:t>●  Le besoin d'un outil numérique centralisé s'impose pour moderniser la gestion de la palmeraie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Problématique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50208"/>
            <a:ext cx="11430000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424242"/>
                </a:solidFill>
              </a:rPr>
              <a:t>?  Comment automatiser et centraliser la saisie, le suivi et l'analyse des données de récolte ?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24242"/>
                </a:solidFill>
              </a:rPr>
              <a:t>?  Comment permettre une traçabilité complète des activités (récolte, travaux, matériels) ?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24242"/>
                </a:solidFill>
              </a:rPr>
              <a:t>?  Comment fournir des tableaux de bord dynamiques pour aider à la prise de décision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577840"/>
            <a:ext cx="11430000" cy="6400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509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➜  Solution : Une application web full-stack combinant Django REST Framework (backend) et React (frontend) avec une base de données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Ce que l'application doit permettre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4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5669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24242"/>
                </a:solidFill>
              </a:rPr>
              <a:t>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17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Gestion des Récoltes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Saisir et suivre les fiches de récolte quotidiennes : superviseurs, récolteurs, régimes (grands / moyens / petits), secteurs, ventes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5669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089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24242"/>
                </a:solidFill>
              </a:rPr>
              <a:t>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089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Gestion des Travaux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52044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Enregistrer les fiches de travaux agricoles avec la répartition des tâches, les consommables utilisés et les secteurs couverts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09160"/>
            <a:ext cx="5669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00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24242"/>
                </a:solidFill>
              </a:rPr>
              <a:t>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006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Inventaire des Matériels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2120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Suivre l'état physique et le statut d'utilisation de chaque équipement de la palmeraie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325880"/>
            <a:ext cx="5669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4173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24242"/>
                </a:solidFill>
              </a:rP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417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Annuaire des Récolteurs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8288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Gérer un répertoire centralisé des récolteurs avec attribution automatique de codes uniques (REC-001, ...)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017520"/>
            <a:ext cx="5669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1089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24242"/>
                </a:solidFill>
              </a:rPr>
              <a:t>🗺️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1089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Gestion des Secteurs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52044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Cartographier les secteurs (superficie, relief, type de sol) avec génération automatique de codes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09160"/>
            <a:ext cx="5669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800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24242"/>
                </a:solidFill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8006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Tableau de Bord Analytique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52120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Visualiser les statistiques de production filtrées par année, secteur, récolteur et type de régime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Globale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Architecture 3-tiers : Client · Serveur · Base de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5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200400" cy="4389120"/>
          </a:xfrm>
          <a:prstGeom prst="rect">
            <a:avLst/>
          </a:prstGeom>
          <a:solidFill>
            <a:srgbClr val="E3F2FD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320040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React 19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React Router DOM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Axios (HTTP)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Vite 7 (build)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ESLint (qualité)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3A5C"/>
                </a:solidFill>
              </a:rPr>
              <a:t>Navigateur Web
(Interface utilisateur)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200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HTTP / REST API
←→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3566160"/>
            <a:ext cx="132588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3200400" cy="438912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371600"/>
            <a:ext cx="32004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9202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Django 5.2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Django REST Framework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Token Authentication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CORS Headers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Modules : récoltes, travaux,
matériels, récolteurs, secteurs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B5E20"/>
                </a:solidFill>
              </a:rPr>
              <a:t>API RESTful
(Logique métier)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200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</a:rPr>
              <a:t>ORM Django
←→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3566160"/>
            <a:ext cx="132588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1371600"/>
            <a:ext cx="2194560" cy="4389120"/>
          </a:xfrm>
          <a:prstGeom prst="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371600"/>
            <a:ext cx="2194560" cy="4114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BASE DE DONNÉES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92024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PostgreSQL 16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10 tables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Hébergé en local
(port 5433)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▸  Schéma :
gestion_palmeraie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24242"/>
                </a:solidFill>
              </a:rPr>
              <a:t>Données persistantes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Processus de Développement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Méthodologie itérative adoptée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6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17830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178308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3258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</a:rPr>
              <a:t>Étape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Analyse
des Besoins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• Recueil des exigences
• Identification des acteurs
• Définition du périmètre fonctionnel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8" y="1325880"/>
            <a:ext cx="17830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1325880"/>
            <a:ext cx="17830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7128" y="13258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</a:rPr>
              <a:t>Étape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128" y="19202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Conception
de la BD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26974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• Modèle Conceptuel (MCD)
• Schéma relationnel (10 tables)
• Définition des relations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59936" y="1325880"/>
            <a:ext cx="17830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59936" y="1325880"/>
            <a:ext cx="178308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9936" y="13258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</a:rPr>
              <a:t>Étape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19202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Développement
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6" y="26974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• Création des apps Django
• Modèles → Migrations
• Sérialisation (DRF)
• Endpoints 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52744" y="1325880"/>
            <a:ext cx="17830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52744" y="1325880"/>
            <a:ext cx="17830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2744" y="13258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</a:rPr>
              <a:t>Étape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2744" y="19202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Développement
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26974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• Composants React
• Connexion API (Axios)
• Gestion des états (Context)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45552" y="1325880"/>
            <a:ext cx="17830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45552" y="1325880"/>
            <a:ext cx="178308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45552" y="13258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</a:rPr>
              <a:t>Étape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19202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Tests &amp;
Intégration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26974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• Tests des endpoints API
• Vérification des formulaires
• Cohérence des données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1325880"/>
            <a:ext cx="17830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38360" y="1325880"/>
            <a:ext cx="17830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13258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</a:rPr>
              <a:t>Étape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19202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Déploiement
&amp; Livraison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6974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• Configuration finale
• Documentation
• Présentation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742432"/>
            <a:ext cx="1115568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833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PROGRESSION  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Outils et Technologies Utilisés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Stack technique complet de l'application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7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379476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⚙️ 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379476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9202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Django 5.2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5856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Framework Python – gestion des apps, ORM, routing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52343"/>
            <a:ext cx="3794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79806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Django REST Framework 3.16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1363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Construction des API REST + sérialisation 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30167"/>
            <a:ext cx="379476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67588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Token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01421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Sécurisation des endpoints par jeton d'accès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07991"/>
            <a:ext cx="3794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55371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django-cors-headers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89203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Gestion des requêtes cross-origin (CORS)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385815"/>
            <a:ext cx="379476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543153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psycopg2-binary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769863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Pilote de connexion Python ↔ PostgreSQL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1325880"/>
            <a:ext cx="379476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132588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🖥️  Frontend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1874519"/>
            <a:ext cx="379476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7" y="19202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React 19.2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7" y="225856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Bibliothèque UI – composants réactifs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2752343"/>
            <a:ext cx="3794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7" y="279806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Vite 7.3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7" y="31363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Outil de build ultra-rapide pour le développement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630167"/>
            <a:ext cx="379476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7" y="367588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React Router DOM 7.13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7" y="401421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Navigation entre les pages de l'application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59" y="4507991"/>
            <a:ext cx="3794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7" y="455371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Axios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7" y="489203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Client HTTP pour consommer l'API REST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5385815"/>
            <a:ext cx="379476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1687" y="543153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ESLint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61687" y="5769863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Analyse statique et qualité du code JavaScript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598" y="1325880"/>
            <a:ext cx="3794760" cy="457200"/>
          </a:xfrm>
          <a:prstGeom prst="rect">
            <a:avLst/>
          </a:prstGeom>
          <a:solidFill>
            <a:srgbClr val="6A1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8" y="132588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🗄️  Base de données &amp; Outils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598" y="1874519"/>
            <a:ext cx="379476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6A1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6" y="19202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A4C"/>
                </a:solidFill>
              </a:rPr>
              <a:t>PostgreSQL 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6" y="225856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SGBD relationnel – stockage de toutes les données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598" y="2752343"/>
            <a:ext cx="3794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6A1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6" y="279806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A4C"/>
                </a:solidFill>
              </a:rPr>
              <a:t>pgAdmin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6" y="31363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Interface graphique d'administration de la BD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598" y="3630167"/>
            <a:ext cx="379476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6A1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6" y="367588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A4C"/>
                </a:solidFill>
              </a:rPr>
              <a:t>VS Code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6" y="401421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Éditeur de code principal (backend + frontend)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598" y="4507991"/>
            <a:ext cx="3794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6A1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9326" y="455371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A4C"/>
                </a:solidFill>
              </a:rPr>
              <a:t>Git / GitHub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9326" y="489203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Contrôle de version et collaboration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598" y="5385815"/>
            <a:ext cx="379476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6A1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9326" y="543153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A4C"/>
                </a:solidFill>
              </a:rPr>
              <a:t>Postman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6" y="5769863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Test et débogage des endpoints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Modules de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Six modules fonctionnels interconnectés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8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25880"/>
            <a:ext cx="58064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325880"/>
            <a:ext cx="548640" cy="1691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874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371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Récoltes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737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Module central de l'application.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Créer / modifier une fiche de récolte  •  Associer des récolteurs par secteur  •  Saisir les régimes (grands/moyens/petits)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108960"/>
            <a:ext cx="58064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108960"/>
            <a:ext cx="548640" cy="1691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36576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54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Travaux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204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Suivi des activités agricoles sur la palmeraie.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B5E20"/>
                </a:solidFill>
              </a:rPr>
              <a:t>Créer une fiche de travaux  •  Lister les consommables utilisés  •  Répartir les tâches par personne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892040"/>
            <a:ext cx="58064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4892040"/>
            <a:ext cx="548640" cy="169164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54406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37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148C"/>
                </a:solidFill>
              </a:rPr>
              <a:t>Matériels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03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Inventaire des équipements de la palmeraie.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989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148C"/>
                </a:solidFill>
              </a:rPr>
              <a:t>Ajouter / modifier un équipement  •  Suivre l'état (bon / mauvais / ...)  •  Suivre le statut (en service / ...)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325880"/>
            <a:ext cx="58064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325880"/>
            <a:ext cx="548640" cy="1691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874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371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Récolteurs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737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Annuaire des récolteurs employés.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237E"/>
                </a:solidFill>
              </a:rPr>
              <a:t>Enregistrer un récolteur  •  Code généré automatiquement  •  Lieu de résidence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108960"/>
            <a:ext cx="58064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108960"/>
            <a:ext cx="548640" cy="169164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6576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🗺️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154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064"/>
                </a:solidFill>
              </a:rPr>
              <a:t>Secteurs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5204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Gestion des zones géographiques de la palmeraie.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6064"/>
                </a:solidFill>
              </a:rPr>
              <a:t>Créer / modifier un secteur  •  Superficie en hectares  •  Type de sol et relief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892040"/>
            <a:ext cx="580644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892040"/>
            <a:ext cx="548640" cy="16916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4406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937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360C"/>
                </a:solidFill>
              </a:rPr>
              <a:t>Tableau de Bord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303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Vue analytique et décisionnelle.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989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F360C"/>
                </a:solidFill>
              </a:rPr>
              <a:t>Total régimes récoltés  •  Chiffre d'affaires global  •  Production par secteur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Schéma de la Base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Relations entre les 10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9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115568"/>
            <a:ext cx="12188952" cy="5943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325880"/>
            <a:ext cx="1874519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132588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Secteur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1673352"/>
            <a:ext cx="1874519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673352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1920240"/>
            <a:ext cx="1874519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920240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code (unique)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2167128"/>
            <a:ext cx="1874519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2167128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nom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2414016"/>
            <a:ext cx="1874519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" y="2414016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superficie_ha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2660904"/>
            <a:ext cx="1874519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2660904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type_sol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2907792"/>
            <a:ext cx="1874519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907792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situation_relief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3703320"/>
            <a:ext cx="1874519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" y="370332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Recolteur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4050792"/>
            <a:ext cx="1874519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4050792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4297680"/>
            <a:ext cx="1874519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" y="4297680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code (REC-xxx)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4544568"/>
            <a:ext cx="1874519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" y="4544568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nom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" y="4791456"/>
            <a:ext cx="1874519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4791456"/>
            <a:ext cx="1783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lieu_residence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1325880"/>
            <a:ext cx="2148840" cy="347472"/>
          </a:xfrm>
          <a:prstGeom prst="rect">
            <a:avLst/>
          </a:prstGeom>
          <a:solidFill>
            <a:srgbClr val="6A1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40280" y="13258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FicheRecolte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1673352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13432" y="1673352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80" y="1920240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13432" y="1920240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2167128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13432" y="2167128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superviseur_general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40280" y="2414016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13432" y="2414016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bareme_grands (60)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2660904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3432" y="2660904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bareme_moyens (50)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907792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13432" y="2907792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bareme_petits (25)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3154680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13432" y="3154680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depense_nourriture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40280" y="3401568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401568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depense_transport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40280" y="4663440"/>
            <a:ext cx="2148840" cy="3474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40280" y="46634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SuperviseurAdjoint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0280" y="5010912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13432" y="5010912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5257800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13432" y="5257800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🔗 fiche_id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40280" y="5504688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13432" y="5504688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nom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40280" y="5751576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13432" y="5751576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secteur_ou_recolteur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17720" y="1325880"/>
            <a:ext cx="214884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17720" y="13258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FicheRecolteLigne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1673352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90872" y="1673352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17720" y="1920240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90872" y="1920240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🔗 fiche_id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17720" y="2167128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90872" y="2167128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🔗 recolteur_id (null ok)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17720" y="2414016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90872" y="2414016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recolteur_nom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17720" y="2660904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90872" y="2660904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regime_type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17720" y="4069080"/>
            <a:ext cx="2148840" cy="34747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17720" y="40690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FicheRecolteDetail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17720" y="4416552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90872" y="4416552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17720" y="4663440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90872" y="4663440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🔗 ligne_id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17720" y="4910328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90872" y="4910328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🔗 secteur_id (null ok)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17720" y="5157216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90872" y="5157216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secteur_code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17720" y="5404104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90872" y="5404104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quantite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95160" y="1325880"/>
            <a:ext cx="2148840" cy="3474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95160" y="13258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FicheRecuVente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95160" y="1673352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68312" y="1673352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95160" y="1920240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68312" y="1920240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🔗 fiche_id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95160" y="2167128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68312" y="2167128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date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95160" y="2414016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68312" y="2414016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client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95160" y="2660904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68312" y="2660904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pesee_kg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95160" y="2907792"/>
            <a:ext cx="214884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068312" y="2907792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non_conformes_pct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95160" y="3154680"/>
            <a:ext cx="214884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68312" y="3154680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montant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72600" y="1325880"/>
            <a:ext cx="256032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72600" y="1325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FicheTravaux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72600" y="1673352"/>
            <a:ext cx="256032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445752" y="167335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372600" y="1920240"/>
            <a:ext cx="256032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445752" y="192024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superviseur_travaux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372600" y="2167128"/>
            <a:ext cx="256032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445752" y="216712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nature_travaux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372600" y="2414016"/>
            <a:ext cx="256032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445752" y="24140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superficie_couverte_ha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372600" y="2660904"/>
            <a:ext cx="256032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445752" y="266090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nb_personnes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372600" y="2907792"/>
            <a:ext cx="256032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445752" y="290779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🔗🔗 secteurs (M2M)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372600" y="3703320"/>
            <a:ext cx="25603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372600" y="3703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ConsommableTravaux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372600" y="4050792"/>
            <a:ext cx="256032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445752" y="405079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372600" y="4297680"/>
            <a:ext cx="256032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445752" y="429768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🔗 fiche_id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372600" y="4544568"/>
            <a:ext cx="256032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445752" y="454456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designation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372600" y="4791456"/>
            <a:ext cx="256032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445752" y="47914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quantite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372600" y="5038344"/>
            <a:ext cx="256032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445752" y="503834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unite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372600" y="5285232"/>
            <a:ext cx="256032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445752" y="528523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prix_unitaire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372600" y="5303520"/>
            <a:ext cx="2560320" cy="3474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372600" y="53035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MaterielEquipement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372600" y="5650992"/>
            <a:ext cx="256032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445752" y="565099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🔑 id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372600" y="5897880"/>
            <a:ext cx="256032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445752" y="589788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numero (unique)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372600" y="6144768"/>
            <a:ext cx="256032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445752" y="614476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designation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372600" y="6391656"/>
            <a:ext cx="256032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445752" y="63916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quantite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372600" y="6638544"/>
            <a:ext cx="2560320" cy="246888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445752" y="663854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etat_physique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372600" y="6885432"/>
            <a:ext cx="2560320" cy="246888"/>
          </a:xfrm>
          <a:prstGeom prst="rect">
            <a:avLst/>
          </a:prstGeom>
          <a:solidFill>
            <a:srgbClr val="1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445752" y="688543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F"/>
                </a:solidFill>
              </a:rPr>
              <a:t>statut_utilisation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Tables : Secteur &amp; Récolteur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Entités de base — zones géographiques et personnes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10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539496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TABLE : Secteur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78308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Clé primaire automatique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VARCHAR(20)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Code auto-généré (ex: GP_1, SEC_2)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nom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Nom du secteur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superficie_ha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DECIMAL(8,2)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Superficie en hectares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situation_relief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Description du relief (plaine, colline…)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type_sol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VARCHAR(200)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Type de sol (argileux, sableux…)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created_at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Date de création (auto)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4160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B5E20"/>
                </a:solidFill>
              </a:rPr>
              <a:t>Relations : ← FicheRecolteDetail (via secteur_id) | ← FicheTravaux (via M2M secteurs_couverts)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539496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TABLE : Recolteur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1783080"/>
          <a:ext cx="53949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8194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Clé primaire automatique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VARCHAR(20)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Code auto-généré (REC-001, REC-042…)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nom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Nom complet du récolteur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lieu_residence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Lieu de résidence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created_at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Date de création (auto)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35478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Relations : ← FicheRecolteLigne (via recolteur_id, nullable)
Code = 'REC-' + str(pk).zfill(3) (généré automatiquement à la sauvegarde)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325880"/>
            <a:ext cx="54864" cy="51206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617720"/>
            <a:ext cx="1152144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6817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💡 Attributs à discuter — Ajouts possibles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Secteur : age_moyen_plants (années), nb_palmiers, rendement_cible_t_ha, coordonnees_GPS, statut (actif/inactif)
Récolteur : date_naissance, telephone, photo, contrat (journalier/permanent), date_embauche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Tables Récoltes (1/2) : FicheRecolte &amp; SuperviseurAdjoint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En-tête de la fiche de récolte et ses superviseurs adjoints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11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7132320" cy="411480"/>
          </a:xfrm>
          <a:prstGeom prst="rect">
            <a:avLst/>
          </a:prstGeom>
          <a:solidFill>
            <a:srgbClr val="6A1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TABLE : FicheRecolte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783080"/>
          <a:ext cx="7132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282632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6A1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6A1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Valeur par défaut</a:t>
                      </a:r>
                    </a:p>
                  </a:txBody>
                  <a:tcPr>
                    <a:solidFill>
                      <a:srgbClr val="6A1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A1A4C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Clé primaire automatique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 de la récolte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superviseur_general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''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Nom du superviseur principal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bareme_grands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 UNSIGNED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Barème unitaire régimes grands (FCFA/unité)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bareme_moyens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 UNSIGNED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Barème unitaire régimes moyens (FCFA/unité)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bareme_petits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 UNSIGNED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Barème unitaire régimes petits (FCFA/unité)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depense_nourriture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DECIMAL(12,2)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Dépenses nourriture (FCFA)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depense_transport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DECIMAL(12,2)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Dépenses transport (FCFA)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observations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TEXT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''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Notes libres du superviseur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26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now()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 de création automatique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589520" y="1325880"/>
            <a:ext cx="4297680" cy="4114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TABLE : SuperviseurAdjoint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589520" y="1783080"/>
          <a:ext cx="4297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Clé primaire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fiche_id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FK → FicheRecolte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Fiche parente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nom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Nom du superviseur adjoint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secteur_ou_recolteur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24242"/>
                          </a:solidFill>
                        </a:rPr>
                        <a:t>Secteur ou récolteur supervisé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5029200"/>
            <a:ext cx="1152144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0932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💡 Attributs à discuter — Ajouts possibles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4864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FicheRecolte : heure_debut / heure_fin, conditions_meteo, nb_palmiers_recoltes, surface_recoltee_ha, statut (brouillon/validé)
SuperviseurAdjoint : matricule, telephone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Tables Récoltes (2/2) : Ligne · Détail · RecuVente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Lignes par récolteur, détails par secteur et récépissés de vente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12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3749039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TABLE : FicheRecolteLigne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783080"/>
          <a:ext cx="374903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79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Clé primaire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fiche_id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FK → FicheRecolte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Fiche parente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recolteur_id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FK → Recolteur (null)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Récolteur (peut être null)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recolteur_nom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Nom (copié si récolteur null)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regime_type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VARCHAR(10)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grands | moyens | petits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251960" y="1325880"/>
            <a:ext cx="3749039" cy="41148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3258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TABLE : FicheRecolteDetail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251960" y="1783080"/>
          <a:ext cx="374903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79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006064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Clé primaire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ligne_id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FK → FicheRecolteLigne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Ligne parente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secteur_id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FK → Secteur (null)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Secteur concerné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secteur_code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Code copié (dénormalisation)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quantite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 UNSIGNED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Nombre de régimes récoltés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8229600" y="1325880"/>
            <a:ext cx="3657600" cy="41148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TABLE : FicheRecuVente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0" y="1783080"/>
          <a:ext cx="3657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BF360C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Clé primaire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fiche_id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FK → FicheRecolte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Fiche parente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 (null ok)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 de la vente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Nom du client acheteur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pesee_kg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DECIMAL(10,2)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Poids pesé en kg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non_conformes_pct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DECIMAL(5,2)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% de régimes non conformes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montant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DECIMAL(12,2)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Montant encaissé (FCFA)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3657600"/>
            <a:ext cx="11612880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Flux des données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749039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FicheRecolte  →  (1 à N)  FicheRecolteLigne  →  (1 à N)  FicheRecolteDetail  +  FicheRecuVente
Une fiche contient plusieurs lignes (une par récolteur × régime). Chaque ligne peut couvrir plusieurs secteurs (détails).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1161288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6360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💡 Attributs à discuter — Ajouts possibles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029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FicheRecolteLigne : salaire_calcule (montant calculé automatiquement), prime_qualite, nb_heures_travail
FicheRecolteDetail : coordonnees_GPS_palmier, qualite_regime (A/B/C)
FicheRecuVente : reference_facture, mode_paiement (espèce/virement), vehicule_transport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Tables Travaux : FicheTravaux · Consommables · RépartitionTâche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Gestion des activités agricoles et de la main-d'œuvre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13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36576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TABLE : FicheTravaux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783080"/>
          <a:ext cx="3657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Clé primaire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superviseur_travaux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Responsable des travaux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nature_travaux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VARCHAR(255)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Type de travaux (taille, fertilisation…)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superficie_couverte_ha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DECIMAL(8,2)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Surface concernée en 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periode_travaux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Période (ex: Janvier 2025)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nb_personnes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 UNSIGNED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Nombre de personnes mobilisées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secteurs_couverts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M2M → Secteur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Secteurs concernés (plusieurs)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observations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Notes libres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created_at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 de création (auto)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160520" y="1325880"/>
            <a:ext cx="365760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TABLE : ConsommableTravaux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60520" y="1783080"/>
          <a:ext cx="3657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Clé primaire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fiche_id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FK → FicheTravaux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Fiche parente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designation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VARCHAR(200)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Nom du produit/matériel consommé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quantite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DECIMAL(10,2)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Quantité utilisée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unite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VARCHAR(40)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Unité (kg, L, sac, …)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prix_unitaire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DECIMAL(12,2)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Prix par unité (FCFA)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created_at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 de création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8046720" y="1325880"/>
            <a:ext cx="3840480" cy="4114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3258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TABLE : RepartitionTache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46720" y="1783080"/>
          <a:ext cx="3840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INTEGER (PK)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Clé primaire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fiche_id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FK → FicheTravaux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Fiche parente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nom_prenom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Nom de l'ouvrier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nature_taches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VARCHAR(200)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Tâche effectuée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quantite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DECIMAL(10,2)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Quantité de travail réalisée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prix_unitaire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DECIMAL(12,2)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Tarif unitaire (FCFA)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created_at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Date de création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4663440"/>
            <a:ext cx="1161288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7274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💡 Attributs à discuter — Ajouts possibles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12064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FicheTravaux : date_debut, date_fin, cout_total_calcule (auto), statut (planifié/en cours/terminé), type_travaux (ENUM)
ConsommableTravaux : fournisseur, numero_lot, date_peremption
RepartitionTache : salaire_total_calcule (quantite × prix_unitaire), matricule_ouvrier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 : MaterielEquipement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Inventaire du matériel et des équipements de la palmeraie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14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325880"/>
            <a:ext cx="8503920" cy="4114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325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TABLE : MaterielEquipement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288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 Django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Type SQL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Contraintes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AutoField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INTEGER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PK, AUTO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Clé primaire automatique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numero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PositiveIntegerField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INT UNSIGNED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UNIQUE, 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Numéro d'inventaire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designation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CharField(200)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VARCHAR(200)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blank=True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Nom / description du matériel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quantite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PositiveIntegerField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INT UNSIGNED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default=0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Quantité en stock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etat_physique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CharField(120)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blank=True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État : bon, mauvais, à réparer…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statut_utilisation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CharField(120)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VARCHAR(120)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blank=True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Statut : en service, en panne…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created_at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DateTimeField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auto_now_add=True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24242"/>
                          </a:solidFill>
                        </a:rPr>
                        <a:t>Date d'ajout dans le système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4526280"/>
            <a:ext cx="11430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Table autonome — aucune relation avec les autres tables actuellement.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120640"/>
            <a:ext cx="1143000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184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💡 Attributs à discuter — Ajouts possibles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77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date_acquisition, valeur_achat (FCFA), fournisseur, date_derniere_maintenance, date_prochaine_maintenance
categorie (véhicule / outil / équipement lourd / petit matériel), localisation (secteur ou dépôt), responsable
Relation possible : lier le matériel aux FicheTravaux pour tracer l'utilisation par chantier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Fonctionnalités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Ce que l'utilisateur peut faire dans l'application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15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25880"/>
            <a:ext cx="580644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325880"/>
            <a:ext cx="580644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36245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Authentification sécurisée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76479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Connexion par identifiant / mot de passe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0391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Jeton JWT d'accès (Token Auth DRF)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313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Toutes les pages protégées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5877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Déconnexion sécurisée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044952"/>
            <a:ext cx="580644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044952"/>
            <a:ext cx="580644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815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CRUD complet sur toutes les entités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4838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Créer, consulter, modifier, supprimer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7581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Formulaires de saisie validés côté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0325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Messages de confirmation et d'erreur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30682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Interface responsive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764024"/>
            <a:ext cx="580644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6A1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764024"/>
            <a:ext cx="5806440" cy="365760"/>
          </a:xfrm>
          <a:prstGeom prst="rect">
            <a:avLst/>
          </a:prstGeom>
          <a:solidFill>
            <a:srgbClr val="6A1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800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Fiches structurées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20293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Saisie de fiches multi-niveaux (entête → lignes → détails)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4772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Plusieurs superviseurs adjoints par fiche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75157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Plusieurs secteurs par ligne de récolte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0258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Récépissés de vente attachés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25880"/>
            <a:ext cx="580644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325880"/>
            <a:ext cx="580644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36245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Exports de données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76479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Export disponible pour : récoltes, travaux,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0391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  secteurs, récolteurs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313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Format téléchargeable (CSV/Excel)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5877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Filtres par année ou secteur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044952"/>
            <a:ext cx="580644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044952"/>
            <a:ext cx="5806440" cy="36576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0815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Codes automatiques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4838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REC-001 … REC-999 pour les récolteurs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7581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GP_1, SEC_2 … pour les secteurs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0325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Évite les doublons et saisies manuelles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30682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Immutable après création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764024"/>
            <a:ext cx="580644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764024"/>
            <a:ext cx="5806440" cy="3657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800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Tableau de bord analytique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20293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KPIs clés (total régimes, CA, nb récolteurs actifs)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4772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Graphique de production mensuelle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75157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Filtres : année, secteur, récolteur, régime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60258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Actualisation en temps réel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Tableau de Bord &amp;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Indicateurs clés et visualisations pour la prise de décision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16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5029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087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3898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Total Régimes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801368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Somme de tous les régimes récoltés (grands + moyens + petits)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32588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325880"/>
            <a:ext cx="502920" cy="1371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5087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3898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Chiffre d'Affaires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1801368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Total des montants encaissés sur les récépissés de vente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325880"/>
            <a:ext cx="502920" cy="13716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5087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3898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360C"/>
                </a:solidFill>
              </a:rPr>
              <a:t>Récolteurs Actifs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801368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Nombre de récolteurs ayant participé à au moins une récolte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32588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325880"/>
            <a:ext cx="502920" cy="1371600"/>
          </a:xfrm>
          <a:prstGeom prst="rect">
            <a:avLst/>
          </a:prstGeom>
          <a:solidFill>
            <a:srgbClr val="6A1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5087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4242"/>
                </a:solidFill>
              </a:rPr>
              <a:t>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13898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1A4C"/>
                </a:solidFill>
              </a:rPr>
              <a:t>Fiches Récolte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1801368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Nombre total de fiches de récolte enregistrées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8803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📊  Graphique de production mensuelle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37560"/>
            <a:ext cx="7772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266944"/>
            <a:ext cx="475488" cy="6309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Jan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4846320"/>
            <a:ext cx="475488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Fév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4425696"/>
            <a:ext cx="475488" cy="147218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Mar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4005072"/>
            <a:ext cx="475488" cy="1892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4884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Avr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80" y="4636008"/>
            <a:ext cx="475488" cy="12618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Mai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4215384"/>
            <a:ext cx="475488" cy="168249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Jun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3794760"/>
            <a:ext cx="475488" cy="21031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Jul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4320540"/>
            <a:ext cx="475488" cy="15773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Aoû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4530852"/>
            <a:ext cx="475488" cy="136702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204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Sep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4110228"/>
            <a:ext cx="475488" cy="17876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Oct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5056632"/>
            <a:ext cx="475488" cy="8412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932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Nov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60" y="4741164"/>
            <a:ext cx="475488" cy="11567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5916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24242"/>
                </a:solidFill>
              </a:rPr>
              <a:t>Déc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34015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24242"/>
                </a:solidFill>
              </a:rPr>
              <a:t>Nombre de régimes récoltés par mois (simulation de données)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⚙️  Filtres disponibles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3383280"/>
            <a:ext cx="34747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0" y="34290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📆 Année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7307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</a:rPr>
              <a:t>Sélectionner une année (ex: 2024, 2025)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4133088"/>
            <a:ext cx="34747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0" y="41788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🗺️ Secteur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4480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</a:rPr>
              <a:t>Filtrer par secteur géographique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4882896"/>
            <a:ext cx="34747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03920" y="49286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👷 Récolteur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2303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</a:rPr>
              <a:t>Voir les données d'un récolteur précis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12480" y="5632704"/>
            <a:ext cx="34747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0" y="56784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🌴 Type régime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5980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</a:rPr>
              <a:t>grands / moyens / petits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API REST &amp;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Points d'accès de l'application et mécanismes de protection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17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1161288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Endpoints disponibles (API REST — authentification Token requise sauf /login/)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783080"/>
          <a:ext cx="116128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28838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Méthode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Auth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/api/auth/login/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Connexion — obtenir un token d'accès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Secteurs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/api/secteurs/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Lister tous les secteurs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Secteurs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/api/secteurs/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Créer un nouveau secteur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Secteurs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/api/secteurs/{id}/export/?year=YYYY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Exporter les données d'un secteur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Récolteurs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/api/recolteurs/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Lister les récolteurs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Récolteurs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/api/recolteurs/stats/?year=YYYY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Statistiques par récolteur et par année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Récoltes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/api/recoltes/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Lister les fiches de récolte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Récoltes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/api/recoltes/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Créer une fiche de récolte complète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Récoltes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/api/recoltes/analytics/?year=YYYY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Données analytiques de récolte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Travaux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/api/travaux/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Lister les fiches de travaux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38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Matériels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/api/materiels/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Lister les équipements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88395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/api/dashboard/summary/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424242"/>
                          </a:solidFill>
                        </a:rPr>
                        <a:t>Résumé global filtrable (année, secteur, 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5669280"/>
            <a:ext cx="1161288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🔒 Sécurité :  Token Authentication DRF  ·  IsAuthenticated sur tous les endpoints  ·  CORS configuré pour le frontend local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94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A825"/>
                </a:solidFill>
              </a:rPr>
              <a:t>Bilan du projet et axes d'amélioration futurs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UFHB · ABO KOKOUTSE ADZEYI HENOCH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9A825"/>
                </a:solidFill>
              </a:rPr>
              <a:t>18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548640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 Ce qui a été réalisé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✓  Application web full-stack fonctionnelle (React + Django)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✓  6 modules couvrant l'ensemble des besoins de gestion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✓  10 tables relationnelles avec contraintes d'intégrité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✓  API REST sécurisée avec authentification par token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✓  Tableau de bord analytique avec filtres dynamiques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✓  Fonctionnalités d'export de données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✓  Codes automatiques pour récolteurs et secteurs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57784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258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🚀  Perspectives d'évolution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→  Application mobile (React Native / Flutter)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→  Rapports PDF automatisés par période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→  Intégration d'un module de paie des récolteurs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→  Géolocalisation des secteurs (carte interactive)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→  Module de maintenance du matériel (alertes)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→  Prévisions de production (IA / Machine Learning)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24242"/>
                </a:solidFill>
              </a:rPr>
              <a:t>→  Déploiement cloud (hébergement en ligne)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325880"/>
            <a:ext cx="54864" cy="3749039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5303520"/>
            <a:ext cx="1161288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"Ce projet pose les bases d'un système de gestion intelligent de la palmeraie.
 Il centralise les données, améliore la traçabilité et offre une aide à la décision
 grâce aux analyses en temps réel."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3657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9A825"/>
                </a:solidFill>
              </a:rPr>
              <a:t>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9A825"/>
                </a:solidFill>
              </a:rPr>
              <a:t>Des 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DEFF"/>
                </a:solidFill>
              </a:rPr>
              <a:t>ABO KOKOUTSE ADZEYI HENOCH
Master 2 BDGL — UFHB · Abidjan
Année académique 2025–2026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47104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9A825"/>
                </a:solidFill>
              </a:rPr>
              <a:t>Système Intelligent de Gestion du Palmier à Huile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
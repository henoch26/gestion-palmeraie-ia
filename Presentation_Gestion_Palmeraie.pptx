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952" cy="3829719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56345"/>
            <a:ext cx="12188952" cy="2901655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829718"/>
            <a:ext cx="12188952" cy="1016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Gestion de Palmeraie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 dirty="0">
                <a:solidFill>
                  <a:srgbClr val="A5D6A7"/>
                </a:solidFill>
              </a:rPr>
              <a:t>Application web de gestion </a:t>
            </a:r>
            <a:r>
              <a:rPr lang="fr-FR" sz="2000" b="0" i="1">
                <a:solidFill>
                  <a:srgbClr val="A5D6A7"/>
                </a:solidFill>
              </a:rPr>
              <a:t>de palmeraie</a:t>
            </a:r>
            <a:r>
              <a:rPr sz="2000" b="0" i="1">
                <a:solidFill>
                  <a:srgbClr val="A5D6A7"/>
                </a:solidFill>
              </a:rPr>
              <a:t> </a:t>
            </a:r>
            <a:r>
              <a:rPr sz="2000" b="0" i="1" dirty="0">
                <a:solidFill>
                  <a:srgbClr val="A5D6A7"/>
                </a:solidFill>
              </a:rPr>
              <a:t>— </a:t>
            </a:r>
            <a:r>
              <a:rPr sz="2000" b="0" i="1" dirty="0" err="1">
                <a:solidFill>
                  <a:srgbClr val="A5D6A7"/>
                </a:solidFill>
              </a:rPr>
              <a:t>Récoltes</a:t>
            </a:r>
            <a:r>
              <a:rPr sz="2000" b="0" i="1" dirty="0">
                <a:solidFill>
                  <a:srgbClr val="A5D6A7"/>
                </a:solidFill>
              </a:rPr>
              <a:t>, Travaux, Ventes &amp; </a:t>
            </a:r>
            <a:r>
              <a:rPr sz="2000" b="0" i="1" dirty="0" err="1">
                <a:solidFill>
                  <a:srgbClr val="A5D6A7"/>
                </a:solidFill>
              </a:rPr>
              <a:t>Traçabilité</a:t>
            </a:r>
            <a:endParaRPr sz="2000" b="0" i="1" dirty="0">
              <a:solidFill>
                <a:srgbClr val="A5D6A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0" y="3108960"/>
            <a:ext cx="4846320" cy="254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3956345"/>
            <a:ext cx="9144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600" b="1" dirty="0"/>
              <a:t>UFHB – Université Félix Houphouët-Boigny</a:t>
            </a:r>
          </a:p>
          <a:p>
            <a:pPr algn="ctr">
              <a:spcBef>
                <a:spcPts val="800"/>
              </a:spcBef>
            </a:pPr>
            <a:r>
              <a:rPr sz="1600" b="1" dirty="0"/>
              <a:t>UFR  Sciences des Structures de la Matière et de </a:t>
            </a:r>
            <a:r>
              <a:rPr sz="1600" b="1" dirty="0" err="1"/>
              <a:t>Technologie</a:t>
            </a:r>
            <a:r>
              <a:rPr sz="1600" b="1" dirty="0"/>
              <a:t> (SSMT)</a:t>
            </a:r>
          </a:p>
          <a:p>
            <a:pPr algn="ctr">
              <a:spcBef>
                <a:spcPts val="800"/>
              </a:spcBef>
            </a:pPr>
            <a:r>
              <a:rPr sz="1600" b="1" dirty="0"/>
              <a:t>Master 2 — Bases de Données et </a:t>
            </a:r>
            <a:r>
              <a:rPr sz="1600" b="1" dirty="0" err="1"/>
              <a:t>Génie</a:t>
            </a:r>
            <a:r>
              <a:rPr sz="1600" b="1" dirty="0"/>
              <a:t> </a:t>
            </a:r>
            <a:r>
              <a:rPr sz="1600" b="1" dirty="0" err="1"/>
              <a:t>Logiciel</a:t>
            </a:r>
            <a:r>
              <a:rPr sz="1600" b="1" dirty="0"/>
              <a:t> (BDGL)</a:t>
            </a:r>
          </a:p>
          <a:p>
            <a:pPr algn="ctr">
              <a:spcBef>
                <a:spcPts val="800"/>
              </a:spcBef>
            </a:pPr>
            <a:r>
              <a:rPr sz="1600" b="1" dirty="0" err="1"/>
              <a:t>Mémoire</a:t>
            </a:r>
            <a:r>
              <a:rPr sz="1600" b="1" dirty="0"/>
              <a:t> de fin </a:t>
            </a:r>
            <a:r>
              <a:rPr sz="1600" b="1" dirty="0" err="1"/>
              <a:t>d'études</a:t>
            </a:r>
            <a:r>
              <a:rPr sz="1600" b="1" dirty="0"/>
              <a:t>  •  2024 –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5486400"/>
            <a:ext cx="14630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55138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Django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5486400"/>
            <a:ext cx="1463040" cy="50292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55138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5486400"/>
            <a:ext cx="146304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55138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SQLite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5486400"/>
            <a:ext cx="146304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55138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57784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82296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508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3075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Contexte &amp; Objectifs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7474F"/>
                </a:solidFill>
              </a:rPr>
              <a:t>Problématique, périmètre fonctionnel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57784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82296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508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3075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Choix des technologies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7474F"/>
                </a:solidFill>
              </a:rPr>
              <a:t>Stack backend, frontend, base de données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32888"/>
            <a:ext cx="557784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2532888"/>
            <a:ext cx="82296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28072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606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Architecture générale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0358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7474F"/>
                </a:solidFill>
              </a:rPr>
              <a:t>Modules, interactions, déploiement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532888"/>
            <a:ext cx="557784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2532888"/>
            <a:ext cx="82296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28072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606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Base de données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358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7474F"/>
                </a:solidFill>
              </a:rPr>
              <a:t>Schéma, tables, relations clés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31335"/>
            <a:ext cx="557784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831335"/>
            <a:ext cx="82296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4105655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90448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Fonctionnalités détaillées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334255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7474F"/>
                </a:solidFill>
              </a:rPr>
              <a:t>Toutes les pages et flux applicatifs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831335"/>
            <a:ext cx="557784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3831335"/>
            <a:ext cx="82296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4105655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90448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Sécurité &amp; Traçabilité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334255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7474F"/>
                </a:solidFill>
              </a:rPr>
              <a:t>Audit, permissions, hors-ligne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5129783"/>
            <a:ext cx="557784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91840" y="5129783"/>
            <a:ext cx="82296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37560" y="5404103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202935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Conclusion &amp; Perspectives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5632703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7474F"/>
                </a:solidFill>
              </a:rPr>
              <a:t>Bilan et évolutions envisagées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Problématique agricole et périmètre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21945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Problématique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La gestion des palmeraies repose encore largement sur des fiches papier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Risques de perte de données, erreurs de calcul et absence de traçabilité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Difficulté à consolider les statistiques et à piloter la production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Aucun outil adapté au contexte terrain (connectivité intermittente)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21945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39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Objectifs du projet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27632"/>
            <a:ext cx="5486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Numériser l'ensemble du processus de récolte et de vente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Fournir un tableau de bord décisionnel en temps réel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Assurer la traçabilité complète des modifications (audit trail)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Permettre la saisie hors ligne avec synchronisation automatique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Gérer les droits d'accès par rôle (admin / superviseur)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66160"/>
            <a:ext cx="11612880" cy="21945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116128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6169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Périmètre fonctionnel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005072"/>
            <a:ext cx="11338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Fiches de récolte (régimes grands / moyens / petits)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Reçus de vente avec calcul automatique des prix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Fiches de travaux agricoles (désherbage, traitement, fertilisation…)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Gestion des récolteurs, agents terrain et secteurs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Suivi des équipements et matériels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Journal d'audit et notifications in-app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Choix des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Justification de la stack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Backend — Django REST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Python 3.11 — maturité, richesse des librairies scientifiques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Django 4.x — ORM puissant, migrations gérées automatiquement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DRF (Django REST Framework) — API REST sécurisée avec TokenAuthentication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Architecture en applications Django indépendantes (modules)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Serializers pour validation et transformation des données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669280" cy="2423160"/>
          </a:xfrm>
          <a:prstGeom prst="rect">
            <a:avLst/>
          </a:prstGeom>
          <a:solidFill>
            <a:srgbClr val="E3F2FD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669280" cy="384048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Frontend — React + 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27632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React 18 — composants réutilisables, hooks, Context API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Vite — serveur de développement rapide, build optimisé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Axios — client HTTP avec intercepteurs pour le token d'auth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CSS pur — design maîtrisé sans dépendance à un framework UI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IndexedDB (via utilitaire offline.js) pour la persistance hors ligne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5669280" cy="2423160"/>
          </a:xfrm>
          <a:prstGeom prst="rect">
            <a:avLst/>
          </a:prstGeom>
          <a:solidFill>
            <a:srgbClr val="FFF8E1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5669280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79983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Base de données — SQLite /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187951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SQLite en développement — zéro configuration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Compatible PostgreSQL pour la production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22 tables, relations clés via FK et ManyToMany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Migrations versionnées avec Django (historique complet)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49039"/>
            <a:ext cx="5669280" cy="2423160"/>
          </a:xfrm>
          <a:prstGeom prst="rect">
            <a:avLst/>
          </a:prstGeom>
          <a:solidFill>
            <a:srgbClr val="FFF3E0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749039"/>
            <a:ext cx="566928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79983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Infrastructure &amp; PWA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187951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Service Worker — cache des ressources statiques (network-first)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IndexedDB — stockage des fiches hors ligne avec token intégré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Synchronisation automatique au retour de la connexion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• Déploiement : Django sur serveur WSGI + React build statique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générale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Vue d'ensemble des couches et interactions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280160"/>
            <a:ext cx="9418320" cy="9144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13436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Navigateur Web (Client)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3817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React 18 + Vite  •  Context API  •  Axios  •  IndexedDB  •  Service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199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7474F"/>
                </a:solidFill>
              </a:rPr>
              <a:t>HTTP / JSON  ↕  (CORS géré par django-cors-headers)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194560"/>
            <a:ext cx="25400" cy="384048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71600" y="2578608"/>
            <a:ext cx="941832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26421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API REST (Serveur)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8020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Django 4 + DRF  •  TokenAuthentication  •  8 applications  •  Serializers +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5184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7474F"/>
                </a:solidFill>
              </a:rPr>
              <a:t>ORM Django  ↕  (queries SQL)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3493008"/>
            <a:ext cx="25400" cy="384048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71600" y="3877056"/>
            <a:ext cx="9418320" cy="9144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3040" y="394055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Base de données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97865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SQLite / PostgreSQL  •  22 tables  •  ORM Django  •  Migrations versionnées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663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Modules applicatifs Django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137160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5120" y="507492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accounts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5029200"/>
            <a:ext cx="137160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88160" y="507492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recoltes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5029200"/>
            <a:ext cx="137160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51200" y="507492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travaux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5029200"/>
            <a:ext cx="1371600" cy="59436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14240" y="507492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secteurs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5029200"/>
            <a:ext cx="1371600" cy="59436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7280" y="507492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5029200"/>
            <a:ext cx="1371600" cy="59436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40320" y="507492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recolteurs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5029200"/>
            <a:ext cx="1371600" cy="5943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03360" y="507492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materiels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0" y="5029200"/>
            <a:ext cx="1371600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66400" y="507492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— Modules Django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Responsabilités de chaque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283464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28346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39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27632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Authentification (login/logout)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Gestion des utilisateurs &amp; rôles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Permissions fonctionnelles (Droit)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Notifications in-app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Réinitialisation de mot de passe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Journal d'audit (AuditLog)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188720"/>
            <a:ext cx="283464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18688" y="1188720"/>
            <a:ext cx="283464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0128" y="1239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recoltes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627632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Fiches de récolte (CRUD complet)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Lignes et détails de récolte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Reçus de vente (FicheRecuVente)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Gestion des clients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Paramètres bonus &amp; prix officiel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Journal d'actions (ActionLog)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188720"/>
            <a:ext cx="283464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08776" y="1188720"/>
            <a:ext cx="2834640" cy="384048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0216" y="1239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travaux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627632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Fiches de travaux agricoles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Consommables utilisés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Répartition des tâches / ouvriers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Calcul automatique du coût total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Statut d'avancement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Lien avec secteurs et matériels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1188720"/>
            <a:ext cx="283464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98864" y="1188720"/>
            <a:ext cx="2834640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4" y="1239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secteurs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1627632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Référentiel des secteurs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Code auto-généré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Superficie, relief, type de sol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Rendement cible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794760"/>
            <a:ext cx="283464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8600" y="3794760"/>
            <a:ext cx="283464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38455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33672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Superviseurs généraux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Agents terrain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Lien avec compte utilisateur Django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Matricule &amp; téléphone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18688" y="3794760"/>
            <a:ext cx="283464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18688" y="3794760"/>
            <a:ext cx="283464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10128" y="38455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recolteurs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5848" y="4233672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Personnel récolteur (alias Recolteur)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Numéro de téléphone unique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Wave / WhatsApp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Historique des lignes de récolte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8776" y="3794760"/>
            <a:ext cx="283464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08776" y="3794760"/>
            <a:ext cx="2834640" cy="38404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0216" y="38455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materiels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4233672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Équipements &amp; matériels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Table intermédiaire avec travaux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Quantité utilisée par fiche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Dates de maintenance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98864" y="3794760"/>
            <a:ext cx="283464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98864" y="3794760"/>
            <a:ext cx="2834640" cy="384048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90304" y="38455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6024" y="4233672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Pas de modèle propre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Agrégations statistiques via ORM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Données consolidées pour le tableau de bord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 de données — 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22 tables, organisées en 5 domaines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3749039" cy="24688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395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Comptes &amp; Sécurité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27632"/>
            <a:ext cx="347471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auth_user (Django built-in)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profil_utilisateur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droit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notification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password_reset_token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audit_log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action_log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188720"/>
            <a:ext cx="3749039" cy="24688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4528" y="1188720"/>
            <a:ext cx="3749039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5968" y="12395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Récoltes &amp; Ventes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627632"/>
            <a:ext cx="347471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fiche_recolte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ligne_recolte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detail_recolte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superviseur_adjoint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recu_vente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client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parametre_bonus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1188720"/>
            <a:ext cx="3749039" cy="24688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0456" y="1188720"/>
            <a:ext cx="3749039" cy="384048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896" y="12395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Travaux Agricoles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1627632"/>
            <a:ext cx="347471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fiche_travaux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consommable_travaux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repartition_tache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fiche_travaux_secteur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931920"/>
            <a:ext cx="3749039" cy="24688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3931920"/>
            <a:ext cx="3749039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9827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Référentiels Terrain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347471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secteur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superviseur_general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agent_terrain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personnel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3931920"/>
            <a:ext cx="3749039" cy="24688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52160" y="3931920"/>
            <a:ext cx="3749039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0" y="39827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Matériels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370832"/>
            <a:ext cx="347471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materiel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• materiel_travaux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 de données — Comptes &amp; Sécurité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3749039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2395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profil_utilisateur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34747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user (OneToOne → auth_user)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role : admin | superviseur | superviseur_adjoint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must_change_password (bool)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numero_telephone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droits (M2M → droit)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188720"/>
            <a:ext cx="3749039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20" y="1188720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12395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droit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627632"/>
            <a:ext cx="34747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code (unique)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label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description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ordre (tri d'affichage)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→ Permissions fonctionnelles attribuées aux superviseurs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188720"/>
            <a:ext cx="3749039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188720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12395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27632"/>
            <a:ext cx="34747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user (FK → auth_user)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message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type : success | warning | info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lu (bool)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lien (URL relative)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created_at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703320"/>
            <a:ext cx="3749039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8600" y="3703320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7541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password_reset_token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42232"/>
            <a:ext cx="34747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user (FK)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token (64 chars, unique)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created_at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used (bool)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→ Valide 1 heure, usage unique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703320"/>
            <a:ext cx="3749039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60520" y="3703320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60" y="37541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audit_log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142232"/>
            <a:ext cx="34747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utilisateur (FK → auth_user)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table_concernee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id_enregistrement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champ_modifie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ancienne_valeur / nouvelle_valeur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motif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3703320"/>
            <a:ext cx="3749039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92440" y="3703320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83880" y="37541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action_log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142232"/>
            <a:ext cx="34747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acteur (FK → auth_user)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superviseur (FK)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action (37 types possibles)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fiche (FK optionnelle)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recu (FK optionnelle)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detail (JSON)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annule (bool)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 de données — Récoltes &amp; Ventes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3749039" cy="23317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2395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fiche_recolte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34747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statut : brouillon | soumis | valide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date, superviseur_general_obj (FK)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bareme_grands / moyens / petits (FCFA)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depense_nourriture / transport / salaire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created_by / validated_by (FK auth_user)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validated_at, depense_total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188720"/>
            <a:ext cx="3749039" cy="23317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20" y="1188720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12395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ligne_recolte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627632"/>
            <a:ext cx="34747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fiche (FK → fiche_recolte)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recolteur (FK → personnel)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recolteur_nom (cache texte)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regime_type : grands | moyens | petits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salaire_calcule (auto)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→ Plusieurs lignes par fiche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188720"/>
            <a:ext cx="3749039" cy="23317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188720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12395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detail_recolte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27632"/>
            <a:ext cx="34747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ligne (FK → ligne_recolte)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secteur (FK → secteur)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secteur_code (cache)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quantite (nbre de régimes)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UNIQUE (ligne, secteur)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749039"/>
            <a:ext cx="3749039" cy="23317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8600" y="3749039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799839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recu_vente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87951"/>
            <a:ext cx="34747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fiche (FK → fiche_recolte)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statut : brouillon | valide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client_obj (FK → client)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pesee_kg, non_conformes_pct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montant, prix_officiel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mode_paiement, vehicule_transport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749039"/>
            <a:ext cx="3749039" cy="23317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60520" y="3749039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60" y="3799839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187951"/>
            <a:ext cx="34747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nom (unique)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telephone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adresse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→ Acheteurs des régimes de palme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3749039"/>
            <a:ext cx="3749039" cy="23317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92440" y="3749039"/>
            <a:ext cx="374903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83880" y="3799839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parametre_bonus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187951"/>
            <a:ext cx="34747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Singleton (pk=1)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bareme_grands/moyens/petits_defaut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seuil_non_conformes (%)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montant_bonus (FCFA)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prix_kg_officiel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 de données — Travaux &amp; Matériels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4206240" cy="26517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42062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23952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fiche_travaux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3931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statut : brouillon | soumis | valide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superviseur_travaux, nature_travaux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superficie_couverte_ha, periode_travaux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nb_personnes, observations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date_debut / date_fin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cout_total_calcule, salaire_total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statut_avancement : planifié | en cours | terminé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secteurs_couverts (M2M → secteur)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188720"/>
            <a:ext cx="3931920" cy="26517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1188720"/>
            <a:ext cx="39319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239520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consommable_travaux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627632"/>
            <a:ext cx="3657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fiche (FK → fiche_travaux)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designation, quantite, unite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prix_unitaire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fournisseur, numero_lot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date_peremption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→ sous-total = quantite × prix_unitaire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188720"/>
            <a:ext cx="3291840" cy="26517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0" y="1188720"/>
            <a:ext cx="32918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0" y="1239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repartition_tache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27632"/>
            <a:ext cx="3017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fiche (FK → fiche_travaux)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nom_prenom, nature_taches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quantite, prix_unitaire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salaire_total_calcule (auto via save())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matricule_ouvrier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794760"/>
            <a:ext cx="585216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8600" y="3794760"/>
            <a:ext cx="585216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8455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materiel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233672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numero (unique)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designation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quantite, etat_physique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categorie : véhicule | outil | équipement lourd | petit matériel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date_acquisition, valeur_achat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fournisseur, localisation, responsable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date_derniere/prochaine_maintenance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794760"/>
            <a:ext cx="539496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3794760"/>
            <a:ext cx="539496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845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materiel_travaux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33672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materiel (FK)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fiche_travaux (FK)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quantite_utilisee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observations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UNIQUE (materiel, fiche_travaux)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7474F"/>
                </a:solidFill>
              </a:rPr>
              <a:t>→ Table intermédiaire explicite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 de données — Référentiels Terrain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834640" cy="38404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8346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239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27632"/>
            <a:ext cx="2560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code (unique, auto-généré depuis nom)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nom, superficie_ha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situation_relief, type_sol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age_moyen_plants, nb_palmiers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rendement_cible_t_ha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statut : actif | inactif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834640" cy="38404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188720"/>
            <a:ext cx="28346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1239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personnel  (alias Recolteur)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627632"/>
            <a:ext cx="2560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nom, lieu_residence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numero_telephone (unique)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whatsapp_actif, est_wave (bools)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date_naissance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→ Récolteurs journaliers de la palmeraie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834640" cy="38404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8346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239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superviseur_general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27632"/>
            <a:ext cx="2560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user (OneToOne → auth_user, optionnel)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code (auto : SUP-001, SUP-002…)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nom, prenom, matricule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telephone, actif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→ Créé automatiquement à la création d'un compte superviseur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188720"/>
            <a:ext cx="2834640" cy="38404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1188720"/>
            <a:ext cx="28346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1239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agent_terrain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627632"/>
            <a:ext cx="2560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nom, prenom, matricule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telephone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secteur (FK → secteur)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actif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→ Agents affectés à un secteur spécifique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— Authentification &amp; Rôles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Sécurité basée sur les tokens DRF et les rôles métier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12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23774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Flux de connexion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94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1. L'utilisateur saisit ses identifiants sur /login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2. Le backend valide via ModelBackend Django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3. Un token DRF est généré et retourné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4. Le token est stocké en sessionStorage (expire à la fermeture)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5. Toutes les requêtes API portent l'en-tête  Authorization: Token &lt;token&gt;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6. Si le compte est désactivé → message explicite côté 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23774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39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rôles métier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27632"/>
            <a:ext cx="54864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Administrateur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 → Accès complet : validation, rejet, gestion des utilisateurs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 → Peut modifier des fiches validées (tracé dans AuditLog)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Superviseur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 → Crée et soumet les fiches, gère récolteurs &amp; secteurs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 → Droits affinés par l'admin via la table droit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Superviseur Adjoint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   → Droits réduits, sous supervision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566928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79983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Réinitialisation de mot de passe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187951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Clic sur « Mot de passe oublié » → saisie de l'e-mail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Backend génère un token 64 chars (secrets.token_urlsafe) valide 1 h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E-mail envoyé avec lien /reset-password?token=XXX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Le token est à usage unique et supprimé après utilisation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Les anciens tokens non utilisés sont purgés avant création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749039"/>
            <a:ext cx="576072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3749039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379983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Changement de mot de passe obligatoire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187951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Flag must_change_password sur le profil utilisateur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Activé par défaut lors de la création d'un compte par l'admin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À la connexion, si actif → redirection forcée vers /change-password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Désactivé automatiquement après que l'utilisateur a changé son MDP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Empêche l'accès à toute autre page tant que non rempli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— 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4 onglets statistiques avec données en temps réel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13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2834640" cy="53035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28346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39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Vue d'ensemble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27632"/>
            <a:ext cx="2560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Nombre de fiches (brouillon / soumis / validé)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Total régimes récoltés (grands + moyens + petits)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Total recettes de vente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Total dépenses récolte et travaux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Solde net (recettes − dépenses)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Graphique évolution mensuelle des récoltes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188720"/>
            <a:ext cx="2834640" cy="53035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18688" y="1188720"/>
            <a:ext cx="2834640" cy="384048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0128" y="1239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Secteurs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627632"/>
            <a:ext cx="2560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Production par secteur (nb régimes)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Carte / tableau des secteurs les plus productifs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Comparaison entre secteurs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Statut actif/inactif des secteurs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188720"/>
            <a:ext cx="2834640" cy="53035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08776" y="1188720"/>
            <a:ext cx="2834640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0216" y="1239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Financier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627632"/>
            <a:ext cx="2560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Recettes vs dépenses par mois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Évolution du prix officiel du kg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Taux de conformité des régimes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Rapport prix calculé / prix officiel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1188720"/>
            <a:ext cx="2834640" cy="53035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98864" y="1188720"/>
            <a:ext cx="283464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4" y="1239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Récolteurs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1627632"/>
            <a:ext cx="2560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Top récolteurs par nombre de régimes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Salaires calculés par récolteur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Historique d'activité par récolteur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7474F"/>
                </a:solidFill>
              </a:rPr>
              <a:t>Statistiques de performance individuelle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74F"/>
                </a:solidFill>
              </a:rPr>
              <a:t>Note : le dashboard est accessible par les administrateurs et superviseurs. Les données sont calculées à la volée via l'ORM Django (pas de table dédiée).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— Fiches de Récolte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Cycle de vie complet : brouillon → soumis → validé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14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24688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Création d'une fiche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Date, superviseur général (lié à l'auth user)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Barème FCFA par type de régime (grands/moyens/petits)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Ajout de lignes : un récolteur → un type de régime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Détail par secteur : quantité de régimes récoltés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Dépenses : nourriture, transport, salaires (calculé auto)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Observations, superviseurs adjoints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24688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39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Cycle de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27632"/>
            <a:ext cx="5486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1. Brouillon   → saisi par le superviseur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2. Soumis      → envoyé pour validation (lecture seule)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3. Validé      → approuvé par l'admin (salaires calculés)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 ou Rejeté   → retour en brouillon avec motif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Toute modification post-validation est tracée dans audit_log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Annulation possible via interface admin (action_log.annule)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40480"/>
            <a:ext cx="566928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84048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891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Calcul des salaires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279392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salaire = somme des quantités × barème du régime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Barème par défaut depuis parametre_bonus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Personnalisable par fiche (override au moment de la saisie)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depense_salaire = cumul des salaires de toutes les lignes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depense_total = nourriture + transport + salaire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840480"/>
            <a:ext cx="576072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384048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38912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Export &amp; Consultation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279392"/>
            <a:ext cx="5486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Impression de la fiche en PDF (fenêtre navigateur)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Filtrage par statut, date, superviseur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Recherche textuelle instantanée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FicheDialog : vue détaillée lecture seule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Export Excel disponible pour l'historique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— Reçus de Vente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Traçabilité commerciale liée aux fiches de récolte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15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32004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Création d'un reçu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94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Lié à une fiche de récolte validée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Client sélectionné dans la liste ou saisi librement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Pesée (kg), taux de non-conformes (%)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Montant saisi manuellement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Prix officiel du kg (admin uniquement)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Mode de paiement : espèce | virement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Référence facture, véhicule de transport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32004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39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Calculs automatiques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27632"/>
            <a:ext cx="5486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prix_calculé = montant ÷ pesée_kg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rapport_prix = prix_calculé ÷ prix_officiel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→ Indicateur qualité (&gt;1 : favorable, &lt;1 : défavorable)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Montant auto-calculé si prix officiel renseigné 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montant = pesée_kg × prix_officiel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Calculs effectués à la volée (propriétés Python)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26280"/>
            <a:ext cx="566928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452628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577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Validation des reçus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965192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Même cycle brouillon → soumis → validé que les fiches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Seul l'admin peut valider ou rejeter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Historique complet dans action_log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Affichage du rapport prix en vert (≥1) ou rouge (&lt;1)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526280"/>
            <a:ext cx="576072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452628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4577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Paramètres Bonus (admin)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965192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Barèmes par défaut modifiables en un clic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Seuil de non-conformes déclenchant un bonus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Montant du bonus configurable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Prix officiel du kg (référence nationale)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— Fiches de Travaux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Suivi des interventions agricoles avec calcul de coût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16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26517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Données de la fiche travaux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94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Nature des travaux (10 types : désherbage, fertilisation…)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Période (AAAA-MM-JJ – AAAA-MM-JJ), validée côté serveur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Superficie couverte (ha), nombre de personnes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Secteurs couverts (sélection multiple)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Statut d'avancement : planifié | en cours | terminé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26517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39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Consommables &amp; Main d'œuvre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27632"/>
            <a:ext cx="5486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Consommables 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• Désignation, quantité, unité, prix unitaire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• Fournisseur, numéro de lot, date de péremption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Répartition des tâches 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• Nom de l'ouvrier, nature des tâches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• Quantité × prix unitaire = salaire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Salaire total journalier saisi directement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77639"/>
            <a:ext cx="5669280" cy="26517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977639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02843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Calcul du coût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416551"/>
            <a:ext cx="5394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coût_total = Σ(consommables) + Σ(répartitions) + salaire_total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Recalculé via recalculer_cout() côté serveur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Aussi recalculé en temps réel côté frontend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Stocké en base pour les agrégations du dashboard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UPDATE direct (sans signal) pour éviter les boucles récursives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977639"/>
            <a:ext cx="5760720" cy="26517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3977639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402843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Matériels utilisés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416551"/>
            <a:ext cx="5486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Sélection depuis la liste des équipements disponibles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Quantité utilisée + observations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Table intermédiaire explicite (materiel_travaux)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Contrainte UNIQUE (matériel, fiche_travaux)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Visible dans le détail de la fiche travaux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— Gestion des Récolteurs &amp;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Annuaire du personnel terrain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17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4114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Récolteurs (Personnel)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94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Nom complet, lieu de résidence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Numéro de téléphone (identifiant unique)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Indicateurs de paiement mobile : Wave, WhatsApp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Date de naissance (validée : 1930 → aujourd'hui)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Historique complet des lignes de récolte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Fiche récolteur avec statistiques de production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Export Excel de la liste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Recherche et filtrage instantanés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21945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39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Agents Terrain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27632"/>
            <a:ext cx="5486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Nom, prénom, matricule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Affecté à un secteur spécifique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Téléphone de contact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Statut actif / inactif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Visible dans l'annuaire agents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Lié aux superviseurs adjoints des fiches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520440"/>
            <a:ext cx="576072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352044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35712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Superviseurs Généraux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959352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Créé automatiquement à la création d'un compte superviseur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Code auto-incrémenté : SUP-001, SUP-002…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Synchronisation automatique avec le compte Django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Affiché dans les fiches de récolte et travaux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Téléphone affiché dans les reçus de vente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Profil détaillé avec ses fiches et statistiques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— Secteurs &amp; Matériels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Référentiels de la palmeraie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18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4114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Gestion des Secteurs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94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Code unique auto-généré depuis le nom (slugify)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ex : « Bloc Nord » → BLOC_NORD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Superficie (ha), situation de relief, type de sol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Âge moyen des plants, nombre de palmiers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Rendement cible (t/ha)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Statut actif / inactif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Page détail : production historique, fiches liées,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agents affectés, fiches de travaux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4114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39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Gestion des Matériels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27632"/>
            <a:ext cx="5486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Numéro unique, désignation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Catégorie : véhicule | outil | équipement lourd | petit matériel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Quantité disponible, état physique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Valeur d'achat, fournisseur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Dates de maintenance (dernière / prochaine)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Localisation, responsable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Lié aux fiches de travaux (matériels utilisés)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Vue tableau avec filtrage et tri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— Traçabilité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Deux journaux complémentaires pour un audit trail complet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19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32004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ActionLog — Journal des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94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37 types d'actions couverts (création, validation, suppression…)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Acteur (qui a fait quoi), superviseur concerné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Référence à la fiche ou au reçu impacté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Détail JSON (champs avant/après, motif)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Flag annule : permet la réversion d'une action par l'admin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Visible dans Journal d'audit (admin) et Mon Audit (superviseur)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Filtrable par type, acteur, date, statut annulé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32004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39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AuditLog — Journal des modifications de champs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27632"/>
            <a:ext cx="5486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Déclenché automatiquement via signal post_save Django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Enregistre chaque champ modifié sur une fiche validée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Ancienne valeur → Nouvelle valeur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Motif de modification saisi par l'admin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Différent de ActionLog : granularité au niveau du champ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Visible dans la page Audit Détail (admin uniquement)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72000"/>
            <a:ext cx="566928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622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Connexions &amp; Sécurité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010912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Tentatives de connexion réussies → loguées (connexion_reussie)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Tentatives échouées → loguées (tentative_connexion_echouee)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Connexion avec compte désactivé → action spécifique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Ces entrées sont visibles dans le journal 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572000"/>
            <a:ext cx="576072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457200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4622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Annulation d'actions (admin)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010912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L'admin peut annuler une action superviseur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Boîte de dialogue de confirmation avec motif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L'entrée action_log est marquée  annule=True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Une nouvelle entrée annulation_action est créée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Piste d'audit complète et non destructive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— Mode Hors Ligne (PWA)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Saisie continue même sans connexion réseau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20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32004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Stockage hors ligne (IndexedDB)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94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2 stores : pending_recoltes  et  pending_travaux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La fiche est sérialisée avec le token DRF de l'utilisateur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Token stocké dans IndexedDB (pas sessionStorage)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→ La sync réussit même si le navigateur a été fermé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savedAt timestamp pour chaque fiche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API : saveRecolteOffline(payload, token)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      saveTravauxOffline(payload, token)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32004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39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Synchronisation automatique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27632"/>
            <a:ext cx="5486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Déclenchée dès le retour de la connexion (event online)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syncPending() : boucle sur les items en attente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→ POST direct via fetch() avec le token stocké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→ Suppression de l'item si succès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→ Conservation de l'item si erreur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Retourne { synced, errors, failedItems }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OfflineBanner affiche le résultat en temps réel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72000"/>
            <a:ext cx="566928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622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Service Worker (mise en cache)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010912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Cache des ressources statiques à l'installation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Stratégie network-first pour les navigations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Stratégie cache-first pour les assets statiques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API calls toujours network-only (pas de cache API)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Enregistrement limité à la production (import.meta.env.PROD)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572000"/>
            <a:ext cx="576072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457200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4622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Bandeau OfflineBanner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010912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Rouge : mode hors ligne actif + nb fiches en attente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Orange : synchronisation en cours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Rouge foncé + liste d'erreurs : sync partielle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Disparaît automatiquement quand tout est sync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Sondage toutes les 5 secondes du compteur IndexedDB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— Notifications &amp;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Alertes in-app et extraction de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21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4114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Notifications in-app (cloche)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94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Cloche dans la barre de navigation (NotificationBell)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Badge rouge avec le nombre de notifications non lues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3 types : success (vert) | warning (orange) | info (bleu)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Créées programmatiquement par le backend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→ Ex : « Votre fiche du 12/06 a été validée »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Clic sur une notification → redirection vers la page concernée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Marquage comme lue individuel ou en masse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Sondage automatique toutes les 60 secondes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4114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39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Export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27632"/>
            <a:ext cx="5486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Historique des récoltes 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• Fiche date, superviseur, régimes, salaires, dépenses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Historique des ventes 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• Client, pesée, montant, prix officiel, rapport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Liste des récolteurs 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• Nom, téléphone, résidence, Wave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Liste des secteurs 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• Code, nom, superficie, statut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Format .xlsx généré côté backend (openpyxl)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Déclenché via bouton « Exporter 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Mesures mises en place à chaque couche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22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23774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Authentification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94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Token DRF unique par session (révocable côté serveur)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sessionStorage côté client (non accessible aux scripts inter-domaines)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Changement de MDP obligatoire à la première connexion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Tokens de reset MDP : 64 chars, 1 heure, usage unique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Verrouillage des comptes par l'admin (is_active=False)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23774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39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Contrôle d'accès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27632"/>
            <a:ext cx="54864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Vérification du rôle sur chaque vue DRF (IsAuthenticated + custom)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Admin principal non modifiable par les autres admins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Droits fonctionnels granulaires pour les superviseurs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Isolation des données : superviseur ne voit que ses fiches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Frontend : routes protégées par AuthContext + PrivateRoute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5669280" cy="23774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79983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Validation des données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187951"/>
            <a:ext cx="5394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Backend : serializers DRF avec validation custom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(dates, montants, formats, unicité téléphone…)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Frontend : validation avant soumission (dates futures,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numéros de téléphone 8-15 chiffres, valeurs négatives)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Champs numériques : sanitizeDecimal / sanitizeInt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  (suppression du signe − dès la frappe)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749039"/>
            <a:ext cx="5760720" cy="23774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3749039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379983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Traçabilité &amp; Non-répudiation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187951"/>
            <a:ext cx="54864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Toute action est enregistrée dans action_log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Toute modification post-validation dans audit_log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Tentatives de connexion (réussies et échouées) loguées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Annulations conservées (non destructives) dans la table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• Historique complet consultable par l'admin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Projet Gestion Palmeraie  |  UFHB – Master 2 BDGL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601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23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669280" cy="4114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669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239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Bilan du projet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27632"/>
            <a:ext cx="5394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✔  Application web complète couvrant tout le cycle récolte → vente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✔  Architecture modulaire Django + React, maintenable et évolutive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✔  22 tables de base de données avec relations bien définies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✔  Traçabilité complète via deux journaux d'audit complémentaires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✔  Mode hors ligne fonctionnel avec synchronisation automatique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✔  Sécurité multi-couches (token, rôles, validation, audit)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✔  Interface responsive utilisable sur tablette terrain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760720" cy="4114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239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Perspectives d'amélioration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27632"/>
            <a:ext cx="5486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→  Cartographie GPS des secteurs et des palmiers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→  Application mobile native (React Native / Flutter)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→  Intégration d'un module de prévision de récolte (ML)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→  Rapports PDF automatiques envoyés par e-mail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→  Authentification multi-facteurs (MFA)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→  API publique documentée (Swagger / OpenAPI)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7474F"/>
                </a:solidFill>
              </a:rPr>
              <a:t>→  Déploiement cloud (AWS / Azure) avec CI/CD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806440"/>
            <a:ext cx="12188952" cy="7772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83387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4393</Words>
  <Application>Microsoft Office PowerPoint</Application>
  <PresentationFormat>Custom</PresentationFormat>
  <Paragraphs>670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Henoch Abo</cp:lastModifiedBy>
  <cp:revision>3</cp:revision>
  <dcterms:created xsi:type="dcterms:W3CDTF">2013-01-27T09:14:16Z</dcterms:created>
  <dcterms:modified xsi:type="dcterms:W3CDTF">2026-06-20T14:51:01Z</dcterms:modified>
  <cp:category/>
</cp:coreProperties>
</file>